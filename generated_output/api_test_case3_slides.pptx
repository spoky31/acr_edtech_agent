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93C5FD"/>
                </a:solidFill>
              </a:rPr>
              <a:t>АКАДЕМИЯ ЦИФРОВОГО РАЗВИТИЯ · МАГАС 2026</a:t>
            </a:r>
          </a:p>
          <a:p>
            <a:pPr>
              <a:spcBef>
                <a:spcPts val="1200"/>
              </a:spcBef>
            </a:pPr>
            <a:r>
              <a:rPr sz="3600" b="1">
                <a:solidFill>
                  <a:srgbClr val="F8FAFC"/>
                </a:solidFill>
              </a:rPr>
              <a:t>Анализ данных на Python</a:t>
            </a:r>
          </a:p>
          <a:p>
            <a:pPr>
              <a:spcBef>
                <a:spcPts val="1400"/>
              </a:spcBef>
            </a:pPr>
            <a:r>
              <a:rPr sz="1800">
                <a:solidFill>
                  <a:srgbClr val="CBD5E1"/>
                </a:solidFill>
              </a:rPr>
              <a:t>Комплект визуальных материалов для лекций · Объем курса: 72 ак. ч.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563EB"/>
                </a:solidFill>
              </a:rPr>
              <a:t>ТЕМА 2.1 · ПЛАН ЛЕКЦИИ (3 АК. Ч.)</a:t>
            </a:r>
          </a:p>
          <a:p>
            <a:pPr>
              <a:spcBef>
                <a:spcPts val="600"/>
              </a:spcBef>
              <a:spcAft>
                <a:spcPts val="1800"/>
              </a:spcAft>
            </a:pPr>
            <a:r>
              <a:rPr sz="2800" b="1">
                <a:solidFill>
                  <a:srgbClr val="0F172A"/>
                </a:solidFill>
              </a:rPr>
              <a:t>Архитектура библиотеки pandas: Series, DataFrame, индексация и фильтрация банковских выписок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4155"/>
                </a:solidFill>
              </a:rPr>
              <a:t>1. Переход от листов Excel к структурам Series и DataFrame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4155"/>
                </a:solidFill>
              </a:rPr>
              <a:t>2. Индексация loc/iloc и фильтрация банковских транзакций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563EB"/>
                </a:solidFill>
              </a:rPr>
              <a:t>ТЕМА 2.1 · АРХИТЕКТУРА БИБЛИОТЕКИ PANDAS: SERIES, DATAFRAME, ИНДЕКСАЦИЯ И ФИЛЬТРАЦИЯ БАНКОВСКИХ ВЫПИСОК</a:t>
            </a:r>
          </a:p>
          <a:p>
            <a:pPr>
              <a:spcBef>
                <a:spcPts val="600"/>
              </a:spcBef>
              <a:spcAft>
                <a:spcPts val="1600"/>
              </a:spcAft>
            </a:pPr>
            <a:r>
              <a:rPr sz="2800" b="1">
                <a:solidFill>
                  <a:srgbClr val="0F172A"/>
                </a:solidFill>
              </a:rPr>
              <a:t>Структуры данных pandas 2.2+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4155"/>
                </a:solidFill>
              </a:rPr>
              <a:t>•  DataFrame как типизированная таблица в памяти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4155"/>
                </a:solidFill>
              </a:rPr>
              <a:t>•  Векторные операции без медленных циклов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563EB"/>
                </a:solidFill>
              </a:rPr>
              <a:t>ТЕМА 2.2 · ПЛАН ЛЕКЦИИ (3 АК. Ч.)</a:t>
            </a:r>
          </a:p>
          <a:p>
            <a:pPr>
              <a:spcBef>
                <a:spcPts val="600"/>
              </a:spcBef>
              <a:spcAft>
                <a:spcPts val="1800"/>
              </a:spcAft>
            </a:pPr>
            <a:r>
              <a:rPr sz="2800" b="1">
                <a:solidFill>
                  <a:srgbClr val="0F172A"/>
                </a:solidFill>
              </a:rPr>
              <a:t>Очистка данных, группировки groupby, сводные таблицы pivot_table и объединение таблиц (merge, concat) в pandas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4155"/>
                </a:solidFill>
              </a:rPr>
              <a:t>1. Группировка groupby и сводные таблицы pivot_table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4155"/>
                </a:solidFill>
              </a:rPr>
              <a:t>2. Объединение кредитных витрин через merge и pd.concat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563EB"/>
                </a:solidFill>
              </a:rPr>
              <a:t>ТЕМА 2.2 · ОЧИСТКА ДАННЫХ, ГРУППИРОВКИ GROUPBY, СВОДНЫЕ ТАБЛИЦЫ PIVOT_TABLE И ОБЪЕДИНЕНИЕ ТАБЛИЦ (MERGE, CONCAT) В PANDAS</a:t>
            </a:r>
          </a:p>
          <a:p>
            <a:pPr>
              <a:spcBef>
                <a:spcPts val="600"/>
              </a:spcBef>
              <a:spcAft>
                <a:spcPts val="1600"/>
              </a:spcAft>
            </a:pPr>
            <a:r>
              <a:rPr sz="2800" b="1">
                <a:solidFill>
                  <a:srgbClr val="0F172A"/>
                </a:solidFill>
              </a:rPr>
              <a:t>Агрегация и слияние банковских таблиц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4155"/>
                </a:solidFill>
              </a:rPr>
              <a:t>•  Замена ВПР (VLOOKUP) на pd.merge()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4155"/>
                </a:solidFill>
              </a:rPr>
              <a:t>•  Конкатенация выписок через pd.concat()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8FAFC"/>
                </a:solidFill>
              </a:rPr>
              <a:t>Вопросы и обсуждение практических заданий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